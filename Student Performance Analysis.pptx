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7" r:id="rId2"/>
    <p:sldId id="257" r:id="rId3"/>
    <p:sldId id="268" r:id="rId4"/>
    <p:sldId id="277" r:id="rId5"/>
    <p:sldId id="276" r:id="rId6"/>
    <p:sldId id="274" r:id="rId7"/>
    <p:sldId id="273" r:id="rId8"/>
    <p:sldId id="275" r:id="rId9"/>
    <p:sldId id="260" r:id="rId10"/>
    <p:sldId id="261" r:id="rId11"/>
    <p:sldId id="262" r:id="rId12"/>
    <p:sldId id="263" r:id="rId13"/>
    <p:sldId id="264" r:id="rId14"/>
    <p:sldId id="270" r:id="rId15"/>
    <p:sldId id="269" r:id="rId16"/>
    <p:sldId id="279" r:id="rId17"/>
    <p:sldId id="278" r:id="rId18"/>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3A2374-B684-44E0-9C94-0691EE49BE80}" v="581" dt="2026-09-05T18:41:00.7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05/09/2026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05/09/2026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05/09/2026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p:cNvSpPr>
            <a:spLocks noGrp="1"/>
          </p:cNvSpPr>
          <p:nvPr>
            <p:ph type="dt" sz="half" idx="10"/>
          </p:nvPr>
        </p:nvSpPr>
        <p:spPr/>
        <p:txBody>
          <a:bodyPr/>
          <a:lstStyle/>
          <a:p>
            <a:fld id="{846CE7D5-CF57-46EF-B807-FDD0502418D4}" type="datetimeFigureOut">
              <a:rPr lang="en-GB" smtClean="0"/>
              <a:t>05/09/2026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p:cNvSpPr>
            <a:spLocks noGrp="1"/>
          </p:cNvSpPr>
          <p:nvPr>
            <p:ph type="dt" sz="half" idx="10"/>
          </p:nvPr>
        </p:nvSpPr>
        <p:spPr/>
        <p:txBody>
          <a:bodyPr/>
          <a:lstStyle/>
          <a:p>
            <a:fld id="{846CE7D5-CF57-46EF-B807-FDD0502418D4}" type="datetimeFigureOut">
              <a:rPr lang="en-GB" smtClean="0"/>
              <a:t>05/09/2026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GB" smtClean="0"/>
              <a:t>05/09/2026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05/09/2026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05/09/2026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05/09/2026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05/09/2026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05/09/2026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05/09/2026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1512ECB-8CFB-6A39-4ABA-3E740764AF9B}"/>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6100" kern="1200">
                <a:solidFill>
                  <a:schemeClr val="tx1"/>
                </a:solidFill>
                <a:latin typeface="+mj-lt"/>
                <a:ea typeface="+mj-ea"/>
                <a:cs typeface="+mj-cs"/>
              </a:rPr>
              <a:t>STUDENT PERFORMANCE ANALYSIS</a:t>
            </a: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274937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D5C19-41F3-CEE3-75EC-EF1BF557E062}"/>
              </a:ext>
            </a:extLst>
          </p:cNvPr>
          <p:cNvSpPr>
            <a:spLocks noGrp="1"/>
          </p:cNvSpPr>
          <p:nvPr>
            <p:ph type="title"/>
          </p:nvPr>
        </p:nvSpPr>
        <p:spPr>
          <a:xfrm>
            <a:off x="485633" y="1185"/>
            <a:ext cx="10515600" cy="1325563"/>
          </a:xfrm>
        </p:spPr>
        <p:txBody>
          <a:bodyPr/>
          <a:lstStyle/>
          <a:p>
            <a:r>
              <a:rPr lang="en-GB"/>
              <a:t>INTRODUCTION</a:t>
            </a:r>
          </a:p>
        </p:txBody>
      </p:sp>
      <p:sp>
        <p:nvSpPr>
          <p:cNvPr id="3" name="Content Placeholder 2">
            <a:extLst>
              <a:ext uri="{FF2B5EF4-FFF2-40B4-BE49-F238E27FC236}">
                <a16:creationId xmlns:a16="http://schemas.microsoft.com/office/drawing/2014/main" id="{C21955D4-8C1D-B19F-812E-D63010F25EC6}"/>
              </a:ext>
            </a:extLst>
          </p:cNvPr>
          <p:cNvSpPr>
            <a:spLocks noGrp="1"/>
          </p:cNvSpPr>
          <p:nvPr>
            <p:ph idx="1"/>
          </p:nvPr>
        </p:nvSpPr>
        <p:spPr>
          <a:xfrm>
            <a:off x="485633" y="1120491"/>
            <a:ext cx="10515600" cy="4624293"/>
          </a:xfrm>
        </p:spPr>
        <p:txBody>
          <a:bodyPr vert="horz" lIns="91440" tIns="45720" rIns="91440" bIns="45720" rtlCol="0" anchor="t">
            <a:normAutofit fontScale="92500" lnSpcReduction="20000"/>
          </a:bodyPr>
          <a:lstStyle/>
          <a:p>
            <a:pPr marL="0" indent="0">
              <a:buNone/>
            </a:pPr>
            <a:br>
              <a:rPr lang="en-GB" dirty="0">
                <a:ea typeface="+mn-lt"/>
                <a:cs typeface="+mn-lt"/>
              </a:rPr>
            </a:br>
            <a:r>
              <a:rPr lang="en-GB" dirty="0">
                <a:ea typeface="+mn-lt"/>
                <a:cs typeface="+mn-lt"/>
              </a:rPr>
              <a:t>Educational institutions need to understand the factors associated with student academic performance in order to identify areas where students may benefit from additional support. However, analysing multiple factors such as study behaviour, attendance, academic support, motivation, lifestyle, access to resources, and social engagement can be challenging without a clear data-driven approach.</a:t>
            </a:r>
            <a:br>
              <a:rPr lang="en-GB" dirty="0">
                <a:ea typeface="+mn-lt"/>
                <a:cs typeface="+mn-lt"/>
              </a:rPr>
            </a:br>
            <a:endParaRPr lang="en-GB" dirty="0">
              <a:ea typeface="+mn-lt"/>
              <a:cs typeface="+mn-lt"/>
            </a:endParaRPr>
          </a:p>
          <a:p>
            <a:pPr marL="0" indent="0">
              <a:buNone/>
            </a:pPr>
            <a:r>
              <a:rPr lang="en-GB">
                <a:ea typeface="+mn-lt"/>
                <a:cs typeface="+mn-lt"/>
              </a:rPr>
              <a:t>This project uses Power BI to analyse student performance data and explore patterns and relationships between these factors and Exam Score. The analysis aims to understand what factors are associated with academic performance, identify students showing multiple indicators for further academic review, and provide data-driven insights that can help educators make informed decisions about academic support and student engagement.</a:t>
            </a:r>
            <a:endParaRPr lang="en-GB" dirty="0">
              <a:ea typeface="+mn-lt"/>
              <a:cs typeface="+mn-lt"/>
            </a:endParaRPr>
          </a:p>
          <a:p>
            <a:pPr>
              <a:buNone/>
            </a:pPr>
            <a:endParaRPr lang="en-GB" dirty="0">
              <a:ea typeface="+mn-lt"/>
              <a:cs typeface="+mn-lt"/>
            </a:endParaRPr>
          </a:p>
          <a:p>
            <a:pPr marL="0" indent="0">
              <a:buNone/>
            </a:pPr>
            <a:endParaRPr lang="en-GB"/>
          </a:p>
        </p:txBody>
      </p:sp>
    </p:spTree>
    <p:extLst>
      <p:ext uri="{BB962C8B-B14F-4D97-AF65-F5344CB8AC3E}">
        <p14:creationId xmlns:p14="http://schemas.microsoft.com/office/powerpoint/2010/main" val="26306036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F1EDC-C167-523C-CE75-D3CDFE4900D9}"/>
              </a:ext>
            </a:extLst>
          </p:cNvPr>
          <p:cNvSpPr>
            <a:spLocks noGrp="1"/>
          </p:cNvSpPr>
          <p:nvPr>
            <p:ph type="title"/>
          </p:nvPr>
        </p:nvSpPr>
        <p:spPr>
          <a:xfrm>
            <a:off x="451513" y="-78427"/>
            <a:ext cx="10515600" cy="1325563"/>
          </a:xfrm>
        </p:spPr>
        <p:txBody>
          <a:bodyPr/>
          <a:lstStyle/>
          <a:p>
            <a:r>
              <a:rPr lang="en-GB"/>
              <a:t>PROBLEM STATEMENT</a:t>
            </a:r>
          </a:p>
        </p:txBody>
      </p:sp>
      <p:sp>
        <p:nvSpPr>
          <p:cNvPr id="3" name="Content Placeholder 2">
            <a:extLst>
              <a:ext uri="{FF2B5EF4-FFF2-40B4-BE49-F238E27FC236}">
                <a16:creationId xmlns:a16="http://schemas.microsoft.com/office/drawing/2014/main" id="{B94823FE-8B7E-FBBF-A3E2-CFB2688308D1}"/>
              </a:ext>
            </a:extLst>
          </p:cNvPr>
          <p:cNvSpPr>
            <a:spLocks noGrp="1"/>
          </p:cNvSpPr>
          <p:nvPr>
            <p:ph idx="1"/>
          </p:nvPr>
        </p:nvSpPr>
        <p:spPr>
          <a:xfrm>
            <a:off x="258170" y="984013"/>
            <a:ext cx="11288972" cy="5613755"/>
          </a:xfrm>
        </p:spPr>
        <p:txBody>
          <a:bodyPr vert="horz" lIns="91440" tIns="45720" rIns="91440" bIns="45720" rtlCol="0" anchor="t">
            <a:noAutofit/>
          </a:bodyPr>
          <a:lstStyle/>
          <a:p>
            <a:pPr>
              <a:buNone/>
            </a:pPr>
            <a:r>
              <a:rPr lang="en-GB">
                <a:ea typeface="+mn-lt"/>
                <a:cs typeface="+mn-lt"/>
              </a:rPr>
              <a:t>   Schools need to understand the factors that may influence students' academic performance so they can provide appropriate academic support and allocate resources effectively. However, student information such as attendance, study hours, parental involvement, access to resources, motivation, tutoring, sleep, and previous academic performance is often analysed separately.</a:t>
            </a:r>
            <a:br>
              <a:rPr lang="en-GB" dirty="0">
                <a:ea typeface="+mn-lt"/>
                <a:cs typeface="+mn-lt"/>
              </a:rPr>
            </a:br>
            <a:br>
              <a:rPr lang="en-GB" dirty="0">
                <a:ea typeface="+mn-lt"/>
                <a:cs typeface="+mn-lt"/>
              </a:rPr>
            </a:br>
            <a:r>
              <a:rPr lang="en-GB">
                <a:ea typeface="+mn-lt"/>
                <a:cs typeface="+mn-lt"/>
              </a:rPr>
              <a:t>This project uses student academic data in Power BI to examine the relationship between student characteristics, learning behaviours, social factors, and educational support and students' final exam scores. The analysis will help identify patterns associated with higher or lower academic performance and provide data-driven recommendations that schools can use to improve student outcomes.</a:t>
            </a:r>
            <a:endParaRPr lang="en-US"/>
          </a:p>
          <a:p>
            <a:pPr marL="0" indent="0">
              <a:buNone/>
            </a:pPr>
            <a:endParaRPr lang="en-GB"/>
          </a:p>
        </p:txBody>
      </p:sp>
    </p:spTree>
    <p:extLst>
      <p:ext uri="{BB962C8B-B14F-4D97-AF65-F5344CB8AC3E}">
        <p14:creationId xmlns:p14="http://schemas.microsoft.com/office/powerpoint/2010/main" val="24552949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97D80-B7A0-FDE8-15ED-F580D132E2A0}"/>
              </a:ext>
            </a:extLst>
          </p:cNvPr>
          <p:cNvSpPr>
            <a:spLocks noGrp="1"/>
          </p:cNvSpPr>
          <p:nvPr>
            <p:ph type="title"/>
          </p:nvPr>
        </p:nvSpPr>
        <p:spPr>
          <a:xfrm>
            <a:off x="-3412" y="126289"/>
            <a:ext cx="10515600" cy="1325563"/>
          </a:xfrm>
        </p:spPr>
        <p:txBody>
          <a:bodyPr/>
          <a:lstStyle/>
          <a:p>
            <a:r>
              <a:rPr lang="en-GB" dirty="0"/>
              <a:t>DATA QUALITY</a:t>
            </a:r>
          </a:p>
          <a:p>
            <a:endParaRPr lang="en-GB" dirty="0"/>
          </a:p>
        </p:txBody>
      </p:sp>
      <p:sp>
        <p:nvSpPr>
          <p:cNvPr id="3" name="Content Placeholder 2">
            <a:extLst>
              <a:ext uri="{FF2B5EF4-FFF2-40B4-BE49-F238E27FC236}">
                <a16:creationId xmlns:a16="http://schemas.microsoft.com/office/drawing/2014/main" id="{D5C74E8E-D0A5-714E-AD7D-9C063A104A95}"/>
              </a:ext>
            </a:extLst>
          </p:cNvPr>
          <p:cNvSpPr>
            <a:spLocks noGrp="1"/>
          </p:cNvSpPr>
          <p:nvPr>
            <p:ph idx="1"/>
          </p:nvPr>
        </p:nvSpPr>
        <p:spPr>
          <a:xfrm>
            <a:off x="286497" y="1097961"/>
            <a:ext cx="11622655" cy="5607315"/>
          </a:xfrm>
        </p:spPr>
        <p:txBody>
          <a:bodyPr vert="horz" lIns="91440" tIns="45720" rIns="91440" bIns="45720" rtlCol="0" anchor="t">
            <a:normAutofit fontScale="85000" lnSpcReduction="20000"/>
          </a:bodyPr>
          <a:lstStyle/>
          <a:p>
            <a:r>
              <a:rPr lang="en-GB" dirty="0"/>
              <a:t>Duplicate records:  Duplicated rows were checked and removed to prevent repeated records from affecting the analysis</a:t>
            </a:r>
            <a:endParaRPr lang="en-US" dirty="0"/>
          </a:p>
          <a:p>
            <a:r>
              <a:rPr lang="en-GB" dirty="0"/>
              <a:t>Missing values: All columns were checked for blank or missing values. No missing values were identified, therefore no replacement was needed</a:t>
            </a:r>
          </a:p>
          <a:p>
            <a:r>
              <a:rPr lang="en-GB" dirty="0"/>
              <a:t>Categorical consistency: such as Teacher Quality, Motivation level, Parental involvement, and access to resource were reviewed to ensure values were consistently labelled and categorised</a:t>
            </a:r>
          </a:p>
          <a:p>
            <a:r>
              <a:rPr lang="en-GB" dirty="0"/>
              <a:t>Exam score anomaly: One Exam Score </a:t>
            </a:r>
            <a:r>
              <a:rPr lang="en-GB" dirty="0" err="1"/>
              <a:t>vaule</a:t>
            </a:r>
            <a:r>
              <a:rPr lang="en-GB" dirty="0"/>
              <a:t> of 101 was identified.. The Kaggle documentation defines this field as the student's final exam score but does not specify a maximum score. Therefore, the value was retained rather than assumed to be an error, and its potential impact on the analysis was considered.</a:t>
            </a:r>
          </a:p>
          <a:p>
            <a:r>
              <a:rPr lang="en-GB" dirty="0"/>
              <a:t>Numerical validation: such as Hours studied, Attendance, Sleep Hours, Previous scores, Tutoring Sessions and Exam score were checked for appropriate data types and reasonable value ranges.</a:t>
            </a:r>
          </a:p>
          <a:p>
            <a:r>
              <a:rPr lang="en-GB" dirty="0"/>
              <a:t>Derived categories and indicators: Additional groups were created to support the analysis, including Attendance group, Study hours flag, Exam score flag, and support indicator group.</a:t>
            </a:r>
          </a:p>
        </p:txBody>
      </p:sp>
    </p:spTree>
    <p:extLst>
      <p:ext uri="{BB962C8B-B14F-4D97-AF65-F5344CB8AC3E}">
        <p14:creationId xmlns:p14="http://schemas.microsoft.com/office/powerpoint/2010/main" val="1758454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9677464-AD85-B956-60F8-50E528F177B5}"/>
              </a:ext>
            </a:extLst>
          </p:cNvPr>
          <p:cNvSpPr>
            <a:spLocks noGrp="1"/>
          </p:cNvSpPr>
          <p:nvPr>
            <p:ph type="title"/>
          </p:nvPr>
        </p:nvSpPr>
        <p:spPr>
          <a:xfrm>
            <a:off x="2557223" y="2516225"/>
            <a:ext cx="7077560" cy="1821215"/>
          </a:xfrm>
        </p:spPr>
        <p:txBody>
          <a:bodyPr vert="horz" lIns="91440" tIns="45720" rIns="91440" bIns="45720" rtlCol="0" anchor="ctr">
            <a:normAutofit/>
          </a:bodyPr>
          <a:lstStyle/>
          <a:p>
            <a:pPr algn="ctr"/>
            <a:r>
              <a:rPr lang="en-US" sz="7200" kern="1200">
                <a:solidFill>
                  <a:schemeClr val="tx1"/>
                </a:solidFill>
                <a:latin typeface="+mj-lt"/>
                <a:ea typeface="+mj-ea"/>
                <a:cs typeface="+mj-cs"/>
              </a:rPr>
              <a:t>DATASET</a:t>
            </a:r>
          </a:p>
          <a:p>
            <a:pPr algn="ctr"/>
            <a:endParaRPr lang="en-US" sz="7200" kern="1200">
              <a:solidFill>
                <a:schemeClr val="tx1"/>
              </a:solidFill>
              <a:latin typeface="+mj-lt"/>
              <a:ea typeface="+mj-ea"/>
              <a:cs typeface="+mj-cs"/>
            </a:endParaRP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227645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F816BBB-2DBE-DB81-7F58-27FC027D8A58}"/>
              </a:ext>
            </a:extLst>
          </p:cNvPr>
          <p:cNvPicPr>
            <a:picLocks noChangeAspect="1"/>
          </p:cNvPicPr>
          <p:nvPr/>
        </p:nvPicPr>
        <p:blipFill>
          <a:blip r:embed="rId2"/>
          <a:srcRect/>
          <a:stretch>
            <a:fillRect/>
          </a:stretch>
        </p:blipFill>
        <p:spPr>
          <a:xfrm>
            <a:off x="2897" y="4601"/>
            <a:ext cx="12194492" cy="6865950"/>
          </a:xfrm>
          <a:prstGeom prst="rect">
            <a:avLst/>
          </a:prstGeom>
        </p:spPr>
      </p:pic>
    </p:spTree>
    <p:extLst>
      <p:ext uri="{BB962C8B-B14F-4D97-AF65-F5344CB8AC3E}">
        <p14:creationId xmlns:p14="http://schemas.microsoft.com/office/powerpoint/2010/main" val="22214220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98D06CD-C076-5B3B-AF05-881865D151B7}"/>
              </a:ext>
            </a:extLst>
          </p:cNvPr>
          <p:cNvPicPr>
            <a:picLocks noChangeAspect="1"/>
          </p:cNvPicPr>
          <p:nvPr/>
        </p:nvPicPr>
        <p:blipFill>
          <a:blip r:embed="rId2"/>
          <a:srcRect r="287"/>
          <a:stretch>
            <a:fillRect/>
          </a:stretch>
        </p:blipFill>
        <p:spPr>
          <a:xfrm>
            <a:off x="4529" y="7936"/>
            <a:ext cx="12171526" cy="6821503"/>
          </a:xfrm>
          <a:prstGeom prst="rect">
            <a:avLst/>
          </a:prstGeom>
        </p:spPr>
      </p:pic>
    </p:spTree>
    <p:extLst>
      <p:ext uri="{BB962C8B-B14F-4D97-AF65-F5344CB8AC3E}">
        <p14:creationId xmlns:p14="http://schemas.microsoft.com/office/powerpoint/2010/main" val="804472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D49F7F6-EFE1-8A82-8E5B-E993A2F7EA7F}"/>
              </a:ext>
            </a:extLst>
          </p:cNvPr>
          <p:cNvPicPr>
            <a:picLocks noChangeAspect="1"/>
          </p:cNvPicPr>
          <p:nvPr/>
        </p:nvPicPr>
        <p:blipFill>
          <a:blip r:embed="rId2"/>
          <a:srcRect b="272"/>
          <a:stretch>
            <a:fillRect/>
          </a:stretch>
        </p:blipFill>
        <p:spPr>
          <a:xfrm>
            <a:off x="4054" y="-7758"/>
            <a:ext cx="12182543" cy="6828748"/>
          </a:xfrm>
          <a:prstGeom prst="rect">
            <a:avLst/>
          </a:prstGeom>
        </p:spPr>
      </p:pic>
    </p:spTree>
    <p:extLst>
      <p:ext uri="{BB962C8B-B14F-4D97-AF65-F5344CB8AC3E}">
        <p14:creationId xmlns:p14="http://schemas.microsoft.com/office/powerpoint/2010/main" val="4047740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6BA70-F395-640B-E86F-DEDAA921429A}"/>
              </a:ext>
            </a:extLst>
          </p:cNvPr>
          <p:cNvSpPr>
            <a:spLocks noGrp="1"/>
          </p:cNvSpPr>
          <p:nvPr>
            <p:ph type="title"/>
          </p:nvPr>
        </p:nvSpPr>
        <p:spPr/>
        <p:txBody>
          <a:bodyPr/>
          <a:lstStyle/>
          <a:p>
            <a:r>
              <a:rPr lang="en-GB"/>
              <a:t>OBJECTIVES</a:t>
            </a:r>
          </a:p>
        </p:txBody>
      </p:sp>
      <p:sp>
        <p:nvSpPr>
          <p:cNvPr id="3" name="Content Placeholder 2">
            <a:extLst>
              <a:ext uri="{FF2B5EF4-FFF2-40B4-BE49-F238E27FC236}">
                <a16:creationId xmlns:a16="http://schemas.microsoft.com/office/drawing/2014/main" id="{226A7D6C-4597-D02B-D41D-B4FD00F0BD02}"/>
              </a:ext>
            </a:extLst>
          </p:cNvPr>
          <p:cNvSpPr>
            <a:spLocks noGrp="1"/>
          </p:cNvSpPr>
          <p:nvPr>
            <p:ph idx="1"/>
          </p:nvPr>
        </p:nvSpPr>
        <p:spPr/>
        <p:txBody>
          <a:bodyPr vert="horz" lIns="91440" tIns="45720" rIns="91440" bIns="45720" rtlCol="0" anchor="t">
            <a:normAutofit/>
          </a:bodyPr>
          <a:lstStyle/>
          <a:p>
            <a:r>
              <a:rPr lang="en-GB">
                <a:ea typeface="+mn-lt"/>
                <a:cs typeface="+mn-lt"/>
              </a:rPr>
              <a:t>Analyse study behaviour and academic performance</a:t>
            </a:r>
          </a:p>
          <a:p>
            <a:r>
              <a:rPr lang="en-GB">
                <a:ea typeface="+mn-lt"/>
                <a:cs typeface="+mn-lt"/>
              </a:rPr>
              <a:t>Examine the relationship between academic support and Exam Score</a:t>
            </a:r>
          </a:p>
          <a:p>
            <a:r>
              <a:rPr lang="en-GB">
                <a:ea typeface="+mn-lt"/>
                <a:cs typeface="+mn-lt"/>
              </a:rPr>
              <a:t>Analyse the impact of student motivation and lifestyle factors</a:t>
            </a:r>
          </a:p>
          <a:p>
            <a:r>
              <a:rPr lang="en-GB">
                <a:ea typeface="+mn-lt"/>
                <a:cs typeface="+mn-lt"/>
              </a:rPr>
              <a:t>Examine the influence of resources and learning environment</a:t>
            </a:r>
          </a:p>
          <a:p>
            <a:r>
              <a:rPr lang="en-GB">
                <a:ea typeface="+mn-lt"/>
                <a:cs typeface="+mn-lt"/>
              </a:rPr>
              <a:t>Analyse social and extracurricular factors</a:t>
            </a:r>
          </a:p>
          <a:p>
            <a:r>
              <a:rPr lang="en-GB">
                <a:ea typeface="+mn-lt"/>
                <a:cs typeface="+mn-lt"/>
              </a:rPr>
              <a:t>Identify students who may require additional academic support</a:t>
            </a:r>
          </a:p>
        </p:txBody>
      </p:sp>
    </p:spTree>
    <p:extLst>
      <p:ext uri="{BB962C8B-B14F-4D97-AF65-F5344CB8AC3E}">
        <p14:creationId xmlns:p14="http://schemas.microsoft.com/office/powerpoint/2010/main" val="18086354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6BA70-F395-640B-E86F-DEDAA921429A}"/>
              </a:ext>
            </a:extLst>
          </p:cNvPr>
          <p:cNvSpPr>
            <a:spLocks noGrp="1"/>
          </p:cNvSpPr>
          <p:nvPr>
            <p:ph type="title"/>
          </p:nvPr>
        </p:nvSpPr>
        <p:spPr>
          <a:xfrm>
            <a:off x="258170" y="183155"/>
            <a:ext cx="11266226" cy="1393801"/>
          </a:xfrm>
        </p:spPr>
        <p:txBody>
          <a:bodyPr/>
          <a:lstStyle/>
          <a:p>
            <a:pPr marL="228600" indent="-228600">
              <a:spcBef>
                <a:spcPts val="1000"/>
              </a:spcBef>
            </a:pPr>
            <a:r>
              <a:rPr lang="en-GB" sz="3600">
                <a:latin typeface="Aptos"/>
              </a:rPr>
              <a:t>STUDY BEHAVIOUR AND ACADEMIC PERFORMANCE</a:t>
            </a:r>
            <a:endParaRPr lang="en-US" sz="3600">
              <a:latin typeface="Aptos"/>
            </a:endParaRPr>
          </a:p>
          <a:p>
            <a:endParaRPr lang="en-GB"/>
          </a:p>
        </p:txBody>
      </p:sp>
      <p:sp>
        <p:nvSpPr>
          <p:cNvPr id="3" name="Content Placeholder 2">
            <a:extLst>
              <a:ext uri="{FF2B5EF4-FFF2-40B4-BE49-F238E27FC236}">
                <a16:creationId xmlns:a16="http://schemas.microsoft.com/office/drawing/2014/main" id="{226A7D6C-4597-D02B-D41D-B4FD00F0BD02}"/>
              </a:ext>
            </a:extLst>
          </p:cNvPr>
          <p:cNvSpPr>
            <a:spLocks noGrp="1"/>
          </p:cNvSpPr>
          <p:nvPr>
            <p:ph idx="1"/>
          </p:nvPr>
        </p:nvSpPr>
        <p:spPr>
          <a:xfrm>
            <a:off x="270265" y="1293254"/>
            <a:ext cx="11652913" cy="5204323"/>
          </a:xfrm>
        </p:spPr>
        <p:txBody>
          <a:bodyPr vert="horz" lIns="91440" tIns="45720" rIns="91440" bIns="45720" rtlCol="0" anchor="t">
            <a:normAutofit/>
          </a:bodyPr>
          <a:lstStyle/>
          <a:p>
            <a:pPr marL="0" indent="0">
              <a:buNone/>
            </a:pPr>
            <a:r>
              <a:rPr lang="en-GB">
                <a:ea typeface="+mn-lt"/>
                <a:cs typeface="+mn-lt"/>
              </a:rPr>
              <a:t>Students with higher study hours (40) recorded a higher average Exam Score of 37 and attendance of 79.66%, compared with students studying fewer hours (33), who recorded an average Exam Score of 19 and attendance of 71.85%. This suggests that stronger study engagement and attendance are associated with better academic performance.</a:t>
            </a:r>
            <a:br>
              <a:rPr lang="en-GB" dirty="0">
                <a:ea typeface="+mn-lt"/>
                <a:cs typeface="+mn-lt"/>
              </a:rPr>
            </a:br>
            <a:br>
              <a:rPr lang="en-GB" dirty="0">
                <a:ea typeface="+mn-lt"/>
                <a:cs typeface="+mn-lt"/>
              </a:rPr>
            </a:br>
            <a:r>
              <a:rPr lang="en-GB">
                <a:ea typeface="+mn-lt"/>
                <a:cs typeface="+mn-lt"/>
              </a:rPr>
              <a:t>Schools should prioritise targeted study-support programmes for students showing lower study engagement, attendance and academic performance, while encouraging effective study habits among students.</a:t>
            </a:r>
            <a:endParaRPr lang="en-US">
              <a:ea typeface="+mn-lt"/>
              <a:cs typeface="+mn-lt"/>
            </a:endParaRPr>
          </a:p>
        </p:txBody>
      </p:sp>
    </p:spTree>
    <p:extLst>
      <p:ext uri="{BB962C8B-B14F-4D97-AF65-F5344CB8AC3E}">
        <p14:creationId xmlns:p14="http://schemas.microsoft.com/office/powerpoint/2010/main" val="395532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6BA70-F395-640B-E86F-DEDAA921429A}"/>
              </a:ext>
            </a:extLst>
          </p:cNvPr>
          <p:cNvSpPr>
            <a:spLocks noGrp="1"/>
          </p:cNvSpPr>
          <p:nvPr>
            <p:ph type="title"/>
          </p:nvPr>
        </p:nvSpPr>
        <p:spPr>
          <a:xfrm>
            <a:off x="155812" y="228647"/>
            <a:ext cx="11880376" cy="1029862"/>
          </a:xfrm>
        </p:spPr>
        <p:txBody>
          <a:bodyPr>
            <a:normAutofit fontScale="90000"/>
          </a:bodyPr>
          <a:lstStyle/>
          <a:p>
            <a:pPr marL="228600" indent="-228600">
              <a:spcBef>
                <a:spcPts val="1000"/>
              </a:spcBef>
            </a:pPr>
            <a:r>
              <a:rPr lang="en-GB" sz="3600" dirty="0">
                <a:latin typeface="Aptos"/>
              </a:rPr>
              <a:t>RELATIONSHIP BETWEEN ACADEMIC SUPPORT AND </a:t>
            </a:r>
            <a:r>
              <a:rPr lang="en-GB" sz="3600">
                <a:latin typeface="Aptos"/>
              </a:rPr>
              <a:t>EXAM SCORE</a:t>
            </a:r>
            <a:endParaRPr lang="en-US" sz="3600">
              <a:latin typeface="Aptos"/>
            </a:endParaRPr>
          </a:p>
          <a:p>
            <a:endParaRPr lang="en-GB" dirty="0"/>
          </a:p>
        </p:txBody>
      </p:sp>
      <p:sp>
        <p:nvSpPr>
          <p:cNvPr id="3" name="Content Placeholder 2">
            <a:extLst>
              <a:ext uri="{FF2B5EF4-FFF2-40B4-BE49-F238E27FC236}">
                <a16:creationId xmlns:a16="http://schemas.microsoft.com/office/drawing/2014/main" id="{226A7D6C-4597-D02B-D41D-B4FD00F0BD02}"/>
              </a:ext>
            </a:extLst>
          </p:cNvPr>
          <p:cNvSpPr>
            <a:spLocks noGrp="1"/>
          </p:cNvSpPr>
          <p:nvPr>
            <p:ph idx="1"/>
          </p:nvPr>
        </p:nvSpPr>
        <p:spPr>
          <a:xfrm>
            <a:off x="160867" y="1015244"/>
            <a:ext cx="11192933" cy="4823052"/>
          </a:xfrm>
        </p:spPr>
        <p:txBody>
          <a:bodyPr vert="horz" lIns="91440" tIns="45720" rIns="91440" bIns="45720" rtlCol="0" anchor="t">
            <a:normAutofit fontScale="85000" lnSpcReduction="20000"/>
          </a:bodyPr>
          <a:lstStyle/>
          <a:p>
            <a:pPr marL="0" indent="0">
              <a:buNone/>
            </a:pPr>
            <a:r>
              <a:rPr lang="en-GB" sz="2600">
                <a:ea typeface="+mn-lt"/>
                <a:cs typeface="+mn-lt"/>
              </a:rPr>
              <a:t>Students receiving higher academic support has high parental involvement, high teacher quality and attends 6 out of 8 tutoring sessions recorded a higher average Exam Score of 74%, compared with 67% among students experiencing lower teacher quality despite having the same parental involvement and tutoring participation.</a:t>
            </a:r>
            <a:endParaRPr lang="en-US"/>
          </a:p>
          <a:p>
            <a:pPr marL="0" indent="0">
              <a:buNone/>
            </a:pPr>
            <a:br>
              <a:rPr lang="en-GB" dirty="0">
                <a:ea typeface="+mn-lt"/>
                <a:cs typeface="+mn-lt"/>
              </a:rPr>
            </a:br>
            <a:r>
              <a:rPr lang="en-GB" dirty="0"/>
              <a:t>However, the study-behaviour analysis (another graph ) indicates that extra support needed for this group is moderate, suggesting that strong study behaviour may reduce the need for additional external academic support.</a:t>
            </a:r>
            <a:br>
              <a:rPr lang="en-US" dirty="0"/>
            </a:br>
            <a:br>
              <a:rPr lang="en-US" dirty="0"/>
            </a:br>
            <a:r>
              <a:rPr lang="en-GB" dirty="0"/>
              <a:t>Business decision = </a:t>
            </a:r>
            <a:r>
              <a:rPr lang="en-GB">
                <a:ea typeface="+mn-lt"/>
                <a:cs typeface="+mn-lt"/>
              </a:rPr>
              <a:t>The School should prioritise a combination of strong parental </a:t>
            </a:r>
            <a:r>
              <a:rPr lang="en-GB" dirty="0">
                <a:ea typeface="+mn-lt"/>
                <a:cs typeface="+mn-lt"/>
              </a:rPr>
              <a:t>involvement, quality teaching and targeted tutoring, while also developing students' independent study skills. This can help schools focus additional support on students showing multiple academic-performance and engagement indicators.</a:t>
            </a:r>
            <a:endParaRPr lang="en-GB" dirty="0"/>
          </a:p>
          <a:p>
            <a:pPr marL="0" indent="0">
              <a:buNone/>
            </a:pPr>
            <a:br>
              <a:rPr lang="en-GB" dirty="0"/>
            </a:br>
            <a:endParaRPr lang="en-GB" dirty="0"/>
          </a:p>
          <a:p>
            <a:pPr marL="0" indent="0">
              <a:buNone/>
            </a:pPr>
            <a:br>
              <a:rPr lang="en-GB" dirty="0"/>
            </a:br>
            <a:endParaRPr lang="en-GB" dirty="0"/>
          </a:p>
        </p:txBody>
      </p:sp>
    </p:spTree>
    <p:extLst>
      <p:ext uri="{BB962C8B-B14F-4D97-AF65-F5344CB8AC3E}">
        <p14:creationId xmlns:p14="http://schemas.microsoft.com/office/powerpoint/2010/main" val="12219554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6BA70-F395-640B-E86F-DEDAA921429A}"/>
              </a:ext>
            </a:extLst>
          </p:cNvPr>
          <p:cNvSpPr>
            <a:spLocks noGrp="1"/>
          </p:cNvSpPr>
          <p:nvPr>
            <p:ph type="title"/>
          </p:nvPr>
        </p:nvSpPr>
        <p:spPr>
          <a:xfrm>
            <a:off x="258170" y="217274"/>
            <a:ext cx="11778017" cy="972996"/>
          </a:xfrm>
        </p:spPr>
        <p:txBody>
          <a:bodyPr>
            <a:normAutofit fontScale="90000"/>
          </a:bodyPr>
          <a:lstStyle/>
          <a:p>
            <a:pPr marL="228600" indent="-228600">
              <a:spcBef>
                <a:spcPts val="1000"/>
              </a:spcBef>
            </a:pPr>
            <a:r>
              <a:rPr lang="en-GB" sz="3600">
                <a:latin typeface="Aptos"/>
              </a:rPr>
              <a:t>IMPACT</a:t>
            </a:r>
            <a:r>
              <a:rPr lang="en-GB" sz="3600" dirty="0">
                <a:latin typeface="Aptos"/>
              </a:rPr>
              <a:t> OF STUDENT MOTIVATION AND LIFESTYLE FACTORS</a:t>
            </a:r>
            <a:endParaRPr lang="en-US" sz="3600">
              <a:latin typeface="Aptos"/>
            </a:endParaRPr>
          </a:p>
          <a:p>
            <a:endParaRPr lang="en-GB" dirty="0"/>
          </a:p>
        </p:txBody>
      </p:sp>
      <p:sp>
        <p:nvSpPr>
          <p:cNvPr id="3" name="Content Placeholder 2">
            <a:extLst>
              <a:ext uri="{FF2B5EF4-FFF2-40B4-BE49-F238E27FC236}">
                <a16:creationId xmlns:a16="http://schemas.microsoft.com/office/drawing/2014/main" id="{226A7D6C-4597-D02B-D41D-B4FD00F0BD02}"/>
              </a:ext>
            </a:extLst>
          </p:cNvPr>
          <p:cNvSpPr>
            <a:spLocks noGrp="1"/>
          </p:cNvSpPr>
          <p:nvPr>
            <p:ph idx="1"/>
          </p:nvPr>
        </p:nvSpPr>
        <p:spPr>
          <a:xfrm>
            <a:off x="258170" y="1063625"/>
            <a:ext cx="10515600" cy="4351338"/>
          </a:xfrm>
        </p:spPr>
        <p:txBody>
          <a:bodyPr vert="horz" lIns="91440" tIns="45720" rIns="91440" bIns="45720" rtlCol="0" anchor="t">
            <a:normAutofit/>
          </a:bodyPr>
          <a:lstStyle/>
          <a:p>
            <a:pPr marL="0" indent="0">
              <a:buNone/>
            </a:pPr>
            <a:r>
              <a:rPr lang="en-GB" dirty="0">
                <a:ea typeface="+mn-lt"/>
                <a:cs typeface="+mn-lt"/>
              </a:rPr>
              <a:t>Students with higher motivation recorded a higher average exam score of 71.75%, compared with 70.50% among students with lower motivation, suggesting a positive association between motivation and academic performance.</a:t>
            </a:r>
            <a:br>
              <a:rPr lang="en-GB" dirty="0"/>
            </a:br>
            <a:br>
              <a:rPr lang="en-GB" dirty="0"/>
            </a:br>
            <a:r>
              <a:rPr lang="en-GB" dirty="0">
                <a:ea typeface="+mn-lt"/>
                <a:cs typeface="+mn-lt"/>
              </a:rPr>
              <a:t>The School should consider combining academics with student engagement and wellbeing activities for example monthly student check-in on their health, physical </a:t>
            </a:r>
            <a:r>
              <a:rPr lang="en-GB">
                <a:ea typeface="+mn-lt"/>
                <a:cs typeface="+mn-lt"/>
              </a:rPr>
              <a:t>activity programmes</a:t>
            </a:r>
            <a:r>
              <a:rPr lang="en-GB" dirty="0">
                <a:ea typeface="+mn-lt"/>
                <a:cs typeface="+mn-lt"/>
              </a:rPr>
              <a:t>  to improve motivation levels and willingness to learn.</a:t>
            </a:r>
            <a:endParaRPr lang="en-GB"/>
          </a:p>
        </p:txBody>
      </p:sp>
    </p:spTree>
    <p:extLst>
      <p:ext uri="{BB962C8B-B14F-4D97-AF65-F5344CB8AC3E}">
        <p14:creationId xmlns:p14="http://schemas.microsoft.com/office/powerpoint/2010/main" val="22098755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6BA70-F395-640B-E86F-DEDAA921429A}"/>
              </a:ext>
            </a:extLst>
          </p:cNvPr>
          <p:cNvSpPr>
            <a:spLocks noGrp="1"/>
          </p:cNvSpPr>
          <p:nvPr>
            <p:ph type="title"/>
          </p:nvPr>
        </p:nvSpPr>
        <p:spPr>
          <a:xfrm>
            <a:off x="258170" y="160409"/>
            <a:ext cx="11937241" cy="972996"/>
          </a:xfrm>
        </p:spPr>
        <p:txBody>
          <a:bodyPr>
            <a:normAutofit fontScale="90000"/>
          </a:bodyPr>
          <a:lstStyle/>
          <a:p>
            <a:pPr marL="228600" indent="-228600">
              <a:spcBef>
                <a:spcPts val="1000"/>
              </a:spcBef>
            </a:pPr>
            <a:r>
              <a:rPr lang="en-GB" sz="3600">
                <a:latin typeface="Aptos"/>
              </a:rPr>
              <a:t>INFLUENCE OF RESOURCES AND LEARNING ENVIRONMENT</a:t>
            </a:r>
            <a:endParaRPr lang="en-US" sz="3600">
              <a:latin typeface="Aptos"/>
            </a:endParaRPr>
          </a:p>
          <a:p>
            <a:endParaRPr lang="en-GB" dirty="0"/>
          </a:p>
        </p:txBody>
      </p:sp>
      <p:sp>
        <p:nvSpPr>
          <p:cNvPr id="3" name="Content Placeholder 2">
            <a:extLst>
              <a:ext uri="{FF2B5EF4-FFF2-40B4-BE49-F238E27FC236}">
                <a16:creationId xmlns:a16="http://schemas.microsoft.com/office/drawing/2014/main" id="{226A7D6C-4597-D02B-D41D-B4FD00F0BD02}"/>
              </a:ext>
            </a:extLst>
          </p:cNvPr>
          <p:cNvSpPr>
            <a:spLocks noGrp="1"/>
          </p:cNvSpPr>
          <p:nvPr>
            <p:ph idx="1"/>
          </p:nvPr>
        </p:nvSpPr>
        <p:spPr>
          <a:xfrm>
            <a:off x="258170" y="1006759"/>
            <a:ext cx="11266226" cy="5693367"/>
          </a:xfrm>
        </p:spPr>
        <p:txBody>
          <a:bodyPr vert="horz" lIns="91440" tIns="45720" rIns="91440" bIns="45720" rtlCol="0" anchor="t">
            <a:normAutofit lnSpcReduction="10000"/>
          </a:bodyPr>
          <a:lstStyle/>
          <a:p>
            <a:pPr marL="0" indent="0">
              <a:buNone/>
            </a:pPr>
            <a:br>
              <a:rPr lang="en-GB" dirty="0"/>
            </a:br>
            <a:r>
              <a:rPr lang="en-GB" dirty="0">
                <a:ea typeface="+mn-lt"/>
                <a:cs typeface="+mn-lt"/>
              </a:rPr>
              <a:t>Students with higher access to resources generally recorded higher average exam scores than those with lower access, regardless of school type. The highest average score was among public-school students with high resource access 68.15%, while the lowest was among private-school students with low resource access 66.31%. However, the differences between school types were small.</a:t>
            </a:r>
            <a:br>
              <a:rPr lang="en-GB" dirty="0"/>
            </a:br>
            <a:br>
              <a:rPr lang="en-GB" dirty="0"/>
            </a:br>
            <a:br>
              <a:rPr lang="en-GB" dirty="0"/>
            </a:br>
            <a:r>
              <a:rPr lang="en-GB" dirty="0">
                <a:ea typeface="+mn-lt"/>
                <a:cs typeface="+mn-lt"/>
              </a:rPr>
              <a:t>Business Decision = The School should prioritise improving access to educational resources for students with lower resource access, while monitoring whether increased access is associated with improved academic performance, because the difference from my </a:t>
            </a:r>
            <a:r>
              <a:rPr lang="en-GB" dirty="0" err="1">
                <a:ea typeface="+mn-lt"/>
                <a:cs typeface="+mn-lt"/>
              </a:rPr>
              <a:t>datatset</a:t>
            </a:r>
            <a:r>
              <a:rPr lang="en-GB" dirty="0">
                <a:ea typeface="+mn-lt"/>
                <a:cs typeface="+mn-lt"/>
              </a:rPr>
              <a:t> is small to prove causation.</a:t>
            </a:r>
            <a:br>
              <a:rPr lang="en-GB" dirty="0"/>
            </a:br>
            <a:br>
              <a:rPr lang="en-GB" dirty="0"/>
            </a:br>
            <a:endParaRPr lang="en-GB" dirty="0"/>
          </a:p>
        </p:txBody>
      </p:sp>
    </p:spTree>
    <p:extLst>
      <p:ext uri="{BB962C8B-B14F-4D97-AF65-F5344CB8AC3E}">
        <p14:creationId xmlns:p14="http://schemas.microsoft.com/office/powerpoint/2010/main" val="1220074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6DB22-CACD-0E0E-59B8-2CDA0CE53087}"/>
              </a:ext>
            </a:extLst>
          </p:cNvPr>
          <p:cNvSpPr>
            <a:spLocks noGrp="1"/>
          </p:cNvSpPr>
          <p:nvPr>
            <p:ph type="title"/>
          </p:nvPr>
        </p:nvSpPr>
        <p:spPr>
          <a:xfrm>
            <a:off x="121693" y="353752"/>
            <a:ext cx="10515600" cy="734161"/>
          </a:xfrm>
        </p:spPr>
        <p:txBody>
          <a:bodyPr/>
          <a:lstStyle/>
          <a:p>
            <a:r>
              <a:rPr lang="en-GB" sz="3600">
                <a:latin typeface="Aptos"/>
              </a:rPr>
              <a:t>SOCIAL AND EXTRACURRICULAR FACTORS</a:t>
            </a:r>
          </a:p>
          <a:p>
            <a:endParaRPr lang="en-GB" dirty="0"/>
          </a:p>
        </p:txBody>
      </p:sp>
      <p:sp>
        <p:nvSpPr>
          <p:cNvPr id="3" name="Content Placeholder 2">
            <a:extLst>
              <a:ext uri="{FF2B5EF4-FFF2-40B4-BE49-F238E27FC236}">
                <a16:creationId xmlns:a16="http://schemas.microsoft.com/office/drawing/2014/main" id="{EC865CED-9D68-CEBB-65E9-4031B50511BE}"/>
              </a:ext>
            </a:extLst>
          </p:cNvPr>
          <p:cNvSpPr>
            <a:spLocks noGrp="1"/>
          </p:cNvSpPr>
          <p:nvPr>
            <p:ph idx="1"/>
          </p:nvPr>
        </p:nvSpPr>
        <p:spPr>
          <a:xfrm>
            <a:off x="292290" y="1097744"/>
            <a:ext cx="11425450" cy="4647039"/>
          </a:xfrm>
        </p:spPr>
        <p:txBody>
          <a:bodyPr vert="horz" lIns="91440" tIns="45720" rIns="91440" bIns="45720" rtlCol="0" anchor="t">
            <a:normAutofit/>
          </a:bodyPr>
          <a:lstStyle/>
          <a:p>
            <a:pPr marL="0" indent="0">
              <a:buNone/>
            </a:pPr>
            <a:r>
              <a:rPr lang="en-GB" dirty="0">
                <a:ea typeface="+mn-lt"/>
                <a:cs typeface="+mn-lt"/>
              </a:rPr>
              <a:t>Extracurricular participation was associated with slightly higher average exam scores across both positive and negative peer-influence groups. Among students with negative peer influence, those participating in extracurricular activities averaged 72.00 compared with 70.50 for non-participants. Among students with positive peer influence, participants averaged 70.67 compared with 69.80 for non-participants.</a:t>
            </a:r>
            <a:br>
              <a:rPr lang="en-GB" dirty="0">
                <a:ea typeface="+mn-lt"/>
                <a:cs typeface="+mn-lt"/>
              </a:rPr>
            </a:br>
            <a:br>
              <a:rPr lang="en-GB" dirty="0">
                <a:ea typeface="+mn-lt"/>
                <a:cs typeface="+mn-lt"/>
              </a:rPr>
            </a:br>
            <a:r>
              <a:rPr lang="en-GB" dirty="0"/>
              <a:t>Business decision = </a:t>
            </a:r>
            <a:r>
              <a:rPr lang="en-GB">
                <a:ea typeface="+mn-lt"/>
                <a:cs typeface="+mn-lt"/>
              </a:rPr>
              <a:t>The School should continue to encourage balanced </a:t>
            </a:r>
            <a:r>
              <a:rPr lang="en-GB" dirty="0">
                <a:ea typeface="+mn-lt"/>
                <a:cs typeface="+mn-lt"/>
              </a:rPr>
              <a:t>extracurricular participation while monitoring students' academic workload and peer environment.</a:t>
            </a:r>
            <a:endParaRPr lang="en-GB" dirty="0"/>
          </a:p>
        </p:txBody>
      </p:sp>
    </p:spTree>
    <p:extLst>
      <p:ext uri="{BB962C8B-B14F-4D97-AF65-F5344CB8AC3E}">
        <p14:creationId xmlns:p14="http://schemas.microsoft.com/office/powerpoint/2010/main" val="38389113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B7D91-2279-A502-6428-981352198998}"/>
              </a:ext>
            </a:extLst>
          </p:cNvPr>
          <p:cNvSpPr>
            <a:spLocks noGrp="1"/>
          </p:cNvSpPr>
          <p:nvPr>
            <p:ph type="title"/>
          </p:nvPr>
        </p:nvSpPr>
        <p:spPr>
          <a:xfrm>
            <a:off x="124581" y="280459"/>
            <a:ext cx="11894456" cy="1434420"/>
          </a:xfrm>
        </p:spPr>
        <p:txBody>
          <a:bodyPr/>
          <a:lstStyle/>
          <a:p>
            <a:r>
              <a:rPr lang="en-GB" sz="3200">
                <a:ea typeface="+mj-lt"/>
                <a:cs typeface="+mj-lt"/>
              </a:rPr>
              <a:t>STUDENTS WHO MAY REQUIRE ADDITIONAL ACADEMIC SUPPORT</a:t>
            </a:r>
          </a:p>
          <a:p>
            <a:endParaRPr lang="en-GB" dirty="0"/>
          </a:p>
        </p:txBody>
      </p:sp>
      <p:sp>
        <p:nvSpPr>
          <p:cNvPr id="3" name="Content Placeholder 2">
            <a:extLst>
              <a:ext uri="{FF2B5EF4-FFF2-40B4-BE49-F238E27FC236}">
                <a16:creationId xmlns:a16="http://schemas.microsoft.com/office/drawing/2014/main" id="{E4329E10-8C45-1009-4C54-E9391B4795DB}"/>
              </a:ext>
            </a:extLst>
          </p:cNvPr>
          <p:cNvSpPr>
            <a:spLocks noGrp="1"/>
          </p:cNvSpPr>
          <p:nvPr>
            <p:ph idx="1"/>
          </p:nvPr>
        </p:nvSpPr>
        <p:spPr>
          <a:xfrm>
            <a:off x="124581" y="1257149"/>
            <a:ext cx="10987314" cy="4351338"/>
          </a:xfrm>
        </p:spPr>
        <p:txBody>
          <a:bodyPr vert="horz" lIns="91440" tIns="45720" rIns="91440" bIns="45720" rtlCol="0" anchor="t">
            <a:normAutofit fontScale="92500" lnSpcReduction="10000"/>
          </a:bodyPr>
          <a:lstStyle/>
          <a:p>
            <a:pPr marL="0" indent="0">
              <a:buNone/>
            </a:pPr>
            <a:r>
              <a:rPr lang="en-GB" dirty="0">
                <a:ea typeface="+mn-lt"/>
                <a:cs typeface="+mn-lt"/>
              </a:rPr>
              <a:t>A Support Score combining six academic and engagement indicators was developed to identify students showing multiple indicators for further review. The findings suggest that lower study engagement, motivation, academic performance and limited access to resources may be associated with greater support indicators, while strong study behaviour and participation in extracurricular activities may be associated with better </a:t>
            </a:r>
            <a:r>
              <a:rPr lang="en-GB">
                <a:ea typeface="+mn-lt"/>
                <a:cs typeface="+mn-lt"/>
              </a:rPr>
              <a:t>engagement and performance.</a:t>
            </a:r>
            <a:br>
              <a:rPr lang="en-GB" dirty="0">
                <a:ea typeface="+mn-lt"/>
                <a:cs typeface="+mn-lt"/>
              </a:rPr>
            </a:br>
            <a:br>
              <a:rPr lang="en-GB" dirty="0">
                <a:ea typeface="+mn-lt"/>
                <a:cs typeface="+mn-lt"/>
              </a:rPr>
            </a:br>
            <a:r>
              <a:rPr lang="en-GB">
                <a:ea typeface="+mn-lt"/>
                <a:cs typeface="+mn-lt"/>
              </a:rPr>
              <a:t>Business decision= Schools should use the Support Score to prioritise students showing multiple indicators for further review and provide targeted support through study-skills programmes, mentoring, tutoring, improved access to learning resources and structured extracurricular activities.</a:t>
            </a:r>
            <a:br>
              <a:rPr lang="en-GB" dirty="0">
                <a:ea typeface="+mn-lt"/>
                <a:cs typeface="+mn-lt"/>
              </a:rPr>
            </a:br>
            <a:endParaRPr lang="en-GB">
              <a:ea typeface="+mn-lt"/>
              <a:cs typeface="+mn-lt"/>
            </a:endParaRPr>
          </a:p>
        </p:txBody>
      </p:sp>
    </p:spTree>
    <p:extLst>
      <p:ext uri="{BB962C8B-B14F-4D97-AF65-F5344CB8AC3E}">
        <p14:creationId xmlns:p14="http://schemas.microsoft.com/office/powerpoint/2010/main" val="19473191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A840C1A-B65B-545D-2D65-FF92C4568F0A}"/>
              </a:ext>
            </a:extLst>
          </p:cNvPr>
          <p:cNvPicPr>
            <a:picLocks noChangeAspect="1"/>
          </p:cNvPicPr>
          <p:nvPr/>
        </p:nvPicPr>
        <p:blipFill>
          <a:blip r:embed="rId2"/>
          <a:stretch>
            <a:fillRect/>
          </a:stretch>
        </p:blipFill>
        <p:spPr>
          <a:xfrm>
            <a:off x="0" y="17814"/>
            <a:ext cx="12192000" cy="6822371"/>
          </a:xfrm>
          <a:prstGeom prst="rect">
            <a:avLst/>
          </a:prstGeom>
        </p:spPr>
      </p:pic>
      <p:pic>
        <p:nvPicPr>
          <p:cNvPr id="3" name="Picture 2">
            <a:extLst>
              <a:ext uri="{FF2B5EF4-FFF2-40B4-BE49-F238E27FC236}">
                <a16:creationId xmlns:a16="http://schemas.microsoft.com/office/drawing/2014/main" id="{9868F5B2-4F96-20CE-996E-7343E1AE454C}"/>
              </a:ext>
            </a:extLst>
          </p:cNvPr>
          <p:cNvPicPr>
            <a:picLocks noChangeAspect="1"/>
          </p:cNvPicPr>
          <p:nvPr/>
        </p:nvPicPr>
        <p:blipFill>
          <a:blip r:embed="rId3"/>
          <a:stretch>
            <a:fillRect/>
          </a:stretch>
        </p:blipFill>
        <p:spPr>
          <a:xfrm>
            <a:off x="36322" y="610169"/>
            <a:ext cx="4431116" cy="2817125"/>
          </a:xfrm>
          <a:prstGeom prst="rect">
            <a:avLst/>
          </a:prstGeom>
        </p:spPr>
      </p:pic>
    </p:spTree>
    <p:extLst>
      <p:ext uri="{BB962C8B-B14F-4D97-AF65-F5344CB8AC3E}">
        <p14:creationId xmlns:p14="http://schemas.microsoft.com/office/powerpoint/2010/main" val="33914087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756F043-DE46-7E07-C2AE-D0161722E87E}"/>
              </a:ext>
            </a:extLst>
          </p:cNvPr>
          <p:cNvPicPr>
            <a:picLocks noChangeAspect="1"/>
          </p:cNvPicPr>
          <p:nvPr/>
        </p:nvPicPr>
        <p:blipFill>
          <a:blip r:embed="rId2"/>
          <a:stretch>
            <a:fillRect/>
          </a:stretch>
        </p:blipFill>
        <p:spPr>
          <a:xfrm>
            <a:off x="0" y="11197"/>
            <a:ext cx="12192000" cy="6835605"/>
          </a:xfrm>
          <a:prstGeom prst="rect">
            <a:avLst/>
          </a:prstGeom>
        </p:spPr>
      </p:pic>
    </p:spTree>
    <p:extLst>
      <p:ext uri="{BB962C8B-B14F-4D97-AF65-F5344CB8AC3E}">
        <p14:creationId xmlns:p14="http://schemas.microsoft.com/office/powerpoint/2010/main" val="266906078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17</Slides>
  <Notes>0</Notes>
  <HiddenSlides>0</HiddenSlide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STUDENT PERFORMANCE ANALYSIS</vt:lpstr>
      <vt:lpstr>INTRODUCTION</vt:lpstr>
      <vt:lpstr>PROBLEM STATEMENT</vt:lpstr>
      <vt:lpstr>DATA QUALITY </vt:lpstr>
      <vt:lpstr>DATASET </vt:lpstr>
      <vt:lpstr>PowerPoint Presentation</vt:lpstr>
      <vt:lpstr>PowerPoint Presentation</vt:lpstr>
      <vt:lpstr>PowerPoint Presentation</vt:lpstr>
      <vt:lpstr>OBJECTIVES</vt:lpstr>
      <vt:lpstr>STUDY BEHAVIOUR AND ACADEMIC PERFORMANCE </vt:lpstr>
      <vt:lpstr>RELATIONSHIP BETWEEN ACADEMIC SUPPORT AND EXAM SCORE </vt:lpstr>
      <vt:lpstr>IMPACT OF STUDENT MOTIVATION AND LIFESTYLE FACTORS </vt:lpstr>
      <vt:lpstr>INFLUENCE OF RESOURCES AND LEARNING ENVIRONMENT </vt:lpstr>
      <vt:lpstr>SOCIAL AND EXTRACURRICULAR FACTORS </vt:lpstr>
      <vt:lpstr>STUDENTS WHO MAY REQUIRE ADDITIONAL ACADEMIC SUPPORT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747</cp:revision>
  <dcterms:created xsi:type="dcterms:W3CDTF">2026-08-17T10:00:03Z</dcterms:created>
  <dcterms:modified xsi:type="dcterms:W3CDTF">2026-09-05T18:41:47Z</dcterms:modified>
</cp:coreProperties>
</file>